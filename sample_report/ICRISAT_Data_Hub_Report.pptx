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AB8B1F-9FD9-4FE9-BF90-2816BE999694}" v="6" dt="2025-12-17T13:08:12.2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0.emf"/><Relationship Id="rId4" Type="http://schemas.openxmlformats.org/officeDocument/2006/relationships/image" Target="../media/image11.emf"/><Relationship Id="rId5" Type="http://schemas.openxmlformats.org/officeDocument/2006/relationships/image" Target="../media/image3.jpg"/></Relationships>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a:extLst>
              <a:ext uri="{FF2B5EF4-FFF2-40B4-BE49-F238E27FC236}">
                <a16:creationId xmlns:a16="http://schemas.microsoft.com/office/drawing/2014/main" id="{329C5038-FDE1-348B-902D-70BFD6916D1B}"/>
              </a:ext>
            </a:extLst>
          </p:cNvPr>
          <p:cNvSpPr/>
          <p:nvPr/>
        </p:nvSpPr>
        <p:spPr>
          <a:xfrm>
            <a:off x="-19973" y="-18097"/>
            <a:ext cx="12192000" cy="6858000"/>
          </a:xfrm>
          <a:prstGeom prst="rect">
            <a:avLst/>
          </a:prstGeom>
          <a:solidFill>
            <a:srgbClr val="033529"/>
          </a:solidFill>
          <a:ln w="12700" cap="flat" cmpd="sng" algn="ctr">
            <a:solidFill>
              <a:srgbClr val="033529">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algn="ctr">
              <a:defRPr sz="4400" b="1">
                <a:solidFill>
                  <a:srgbClr val="FFFFFF"/>
                </a:solidFill>
              </a:defRPr>
            </a:pPr>
            <a:endParaRPr lang="en-US"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B8DA6D7-C93D-AC26-51F6-A2D4127FC423}"/>
              </a:ext>
            </a:extLst>
          </p:cNvPr>
          <p:cNvSpPr txBox="1"/>
          <p:nvPr/>
        </p:nvSpPr>
        <p:spPr>
          <a:xfrm>
            <a:off x="0" y="1051560"/>
            <a:ext cx="11969495" cy="2123658"/>
          </a:xfrm>
          <a:prstGeom prst="rect">
            <a:avLst/>
          </a:prstGeom>
          <a:noFill/>
        </p:spPr>
        <p:txBody>
          <a:bodyPr wrap="square" rtlCol="0">
            <a:spAutoFit/>
          </a:bodyPr>
          <a:lstStyle/>
          <a:p>
            <a:pPr algn="ctr">
              <a:defRPr sz="4400" b="1">
                <a:solidFill>
                  <a:srgbClr val="FFFFFF"/>
                </a:solidFill>
              </a:defRPr>
            </a:pPr>
            <a:r>
              <a:rPr lang="en-US" sz="4000" kern="100" dirty="0">
                <a:solidFill>
                  <a:srgbClr val="17F1BD"/>
                </a:solidFill>
                <a:latin typeface="Times New Roman" panose="02020603050405020304" pitchFamily="18" charset="0"/>
                <a:cs typeface="Times New Roman" panose="02020603050405020304" pitchFamily="18" charset="0"/>
              </a:rPr>
              <a:t>ICRISAT Data Hub</a:t>
            </a:r>
          </a:p>
          <a:p>
            <a:pPr algn="ctr">
              <a:defRPr sz="4400" b="1">
                <a:solidFill>
                  <a:srgbClr val="FFFFFF"/>
                </a:solidFill>
              </a:defRPr>
            </a:pPr>
            <a:r>
              <a:rPr lang="en-US" sz="2400" kern="100" dirty="0">
                <a:solidFill>
                  <a:srgbClr val="17F1BD"/>
                </a:solidFill>
                <a:latin typeface="Times New Roman" panose="02020603050405020304" pitchFamily="18" charset="0"/>
                <a:cs typeface="Times New Roman" panose="02020603050405020304" pitchFamily="18" charset="0"/>
              </a:rPr>
              <a:t>Federation-First Data Sharing and an AI-Ready Catalogue for ICRISAT Teams</a:t>
            </a:r>
          </a:p>
          <a:p>
            <a:pPr algn="ctr">
              <a:defRPr sz="4400" b="1">
                <a:solidFill>
                  <a:srgbClr val="FFFFFF"/>
                </a:solidFill>
              </a:defRPr>
            </a:pPr>
            <a:endParaRPr lang="en-US" sz="2400" kern="100" dirty="0">
              <a:solidFill>
                <a:srgbClr val="17F1BD"/>
              </a:solidFill>
              <a:latin typeface="Times New Roman" panose="02020603050405020304" pitchFamily="18" charset="0"/>
              <a:cs typeface="Times New Roman" panose="02020603050405020304" pitchFamily="18" charset="0"/>
            </a:endParaRPr>
          </a:p>
          <a:p>
            <a:pPr algn="ctr">
              <a:defRPr sz="4400" b="1">
                <a:solidFill>
                  <a:srgbClr val="FFFFFF"/>
                </a:solidFill>
              </a:defRPr>
            </a:pPr>
            <a:endParaRPr lang="en-US" sz="2400" kern="100" dirty="0">
              <a:solidFill>
                <a:srgbClr val="17F1BD"/>
              </a:solidFill>
              <a:latin typeface="Times New Roman" panose="02020603050405020304" pitchFamily="18" charset="0"/>
              <a:cs typeface="Times New Roman" panose="02020603050405020304" pitchFamily="18" charset="0"/>
            </a:endParaRPr>
          </a:p>
          <a:p>
            <a:pPr>
              <a:defRPr sz="4400" b="1">
                <a:solidFill>
                  <a:srgbClr val="FFFFFF"/>
                </a:solidFill>
              </a:defRPr>
            </a:pPr>
            <a:r>
              <a:rPr lang="en-US" sz="2000" dirty="0">
                <a:latin typeface="Times New Roman" panose="02020603050405020304" pitchFamily="18" charset="0"/>
                <a:cs typeface="Times New Roman" panose="02020603050405020304" pitchFamily="18" charset="0"/>
              </a:rPr>
              <a:t>		July 2026</a:t>
            </a:r>
          </a:p>
        </p:txBody>
      </p:sp>
      <p:sp>
        <p:nvSpPr>
          <p:cNvPr id="9" name="Rectangle 8">
            <a:extLst>
              <a:ext uri="{FF2B5EF4-FFF2-40B4-BE49-F238E27FC236}">
                <a16:creationId xmlns:a16="http://schemas.microsoft.com/office/drawing/2014/main" id="{DFBCE5A5-1987-E6EB-FF59-EDCD8E8C4598}"/>
              </a:ext>
            </a:extLst>
          </p:cNvPr>
          <p:cNvSpPr/>
          <p:nvPr/>
        </p:nvSpPr>
        <p:spPr>
          <a:xfrm>
            <a:off x="5877220" y="6067189"/>
            <a:ext cx="5950688" cy="471924"/>
          </a:xfrm>
          <a:prstGeom prst="rect">
            <a:avLst/>
          </a:prstGeom>
        </p:spPr>
        <p:txBody>
          <a:bodyPr wrap="square">
            <a:spAutoFit/>
          </a:bodyPr>
          <a:lstStyle/>
          <a:p>
            <a:pPr>
              <a:spcAft>
                <a:spcPts val="800"/>
              </a:spcAft>
            </a:pPr>
            <a:r>
              <a:rPr lang="en-US" sz="900" b="1" kern="100" dirty="0">
                <a:solidFill>
                  <a:schemeClr val="bg1"/>
                </a:solidFill>
                <a:latin typeface="Arial" panose="020B0604020202020204" pitchFamily="34" charset="0"/>
                <a:ea typeface="Arial" panose="020B0604020202020204" pitchFamily="34" charset="0"/>
                <a:cs typeface="Arial" panose="020B0604020202020204" pitchFamily="34" charset="0"/>
              </a:rPr>
              <a:t>Authors:</a:t>
            </a:r>
            <a:endParaRPr lang="en-US" sz="900" kern="100" dirty="0">
              <a:solidFill>
                <a:schemeClr val="bg1"/>
              </a:solidFill>
              <a:latin typeface="Arial" panose="020B0604020202020204" pitchFamily="34" charset="0"/>
              <a:ea typeface="Arial" panose="020B0604020202020204" pitchFamily="34" charset="0"/>
              <a:cs typeface="Times New Roman" panose="02020603050405020304" pitchFamily="18" charset="0"/>
            </a:endParaRPr>
          </a:p>
          <a:p>
            <a:pPr>
              <a:spcAft>
                <a:spcPts val="800"/>
              </a:spcAft>
            </a:pPr>
            <a:r>
              <a:rPr lang="en-US" sz="900" kern="100" dirty="0">
                <a:solidFill>
                  <a:schemeClr val="bg1"/>
                </a:solidFill>
                <a:latin typeface="Arial" panose="020B0604020202020204" pitchFamily="34" charset="0"/>
                <a:ea typeface="Arial" panose="020B0604020202020204" pitchFamily="34" charset="0"/>
                <a:cs typeface="Arial" panose="020B0604020202020204" pitchFamily="34" charset="0"/>
              </a:rPr>
              <a:t>Henok Desalegn, HaFAS Team</a:t>
            </a:r>
            <a:r>
              <a:rPr lang="en-US" sz="900" kern="100" dirty="0" err="1">
                <a:solidFill>
                  <a:schemeClr val="bg1"/>
                </a:solidFill>
                <a:latin typeface="Arial" panose="020B0604020202020204" pitchFamily="34" charset="0"/>
                <a:ea typeface="Arial" panose="020B0604020202020204" pitchFamily="34" charset="0"/>
                <a:cs typeface="Arial" panose="020B0604020202020204" pitchFamily="34" charset="0"/>
              </a:rPr>
              <a:t/>
            </a:r>
            <a:endParaRPr lang="en-US" sz="900" kern="100" dirty="0">
              <a:solidFill>
                <a:schemeClr val="bg1"/>
              </a:solidFill>
              <a:latin typeface="Arial" panose="020B0604020202020204" pitchFamily="34" charset="0"/>
              <a:ea typeface="Arial" panose="020B0604020202020204" pitchFamily="34" charset="0"/>
              <a:cs typeface="Times New Roman" panose="02020603050405020304" pitchFamily="18" charset="0"/>
            </a:endParaRPr>
          </a:p>
        </p:txBody>
      </p:sp>
      <p:pic>
        <p:nvPicPr>
          <p:cNvPr id="10" name="Picture 9" descr="image.png"/>
          <p:cNvPicPr>
            <a:picLocks noChangeAspect="1"/>
          </p:cNvPicPr>
          <p:nvPr/>
        </p:nvPicPr>
        <p:blipFill>
          <a:blip r:embed="rId2"/>
          <a:stretch>
            <a:fillRect/>
          </a:stretch>
        </p:blipFill>
        <p:spPr>
          <a:xfrm>
            <a:off x="0" y="60542"/>
            <a:ext cx="1682496" cy="678148"/>
          </a:xfrm>
          <a:prstGeom prst="rect">
            <a:avLst/>
          </a:prstGeom>
        </p:spPr>
      </p:pic>
      <p:pic>
        <p:nvPicPr>
          <p:cNvPr id="11" name="Picture 10" descr="image.png"/>
          <p:cNvPicPr>
            <a:picLocks noChangeAspect="1"/>
          </p:cNvPicPr>
          <p:nvPr/>
        </p:nvPicPr>
        <p:blipFill>
          <a:blip r:embed="rId3"/>
          <a:stretch>
            <a:fillRect/>
          </a:stretch>
        </p:blipFill>
        <p:spPr>
          <a:xfrm>
            <a:off x="1332155" y="3646967"/>
            <a:ext cx="3192936" cy="3192936"/>
          </a:xfrm>
          <a:prstGeom prst="rect">
            <a:avLst/>
          </a:prstGeom>
        </p:spPr>
      </p:pic>
      <p:pic>
        <p:nvPicPr>
          <p:cNvPr id="12" name="Picture 11" descr="image.jpg"/>
          <p:cNvPicPr>
            <a:picLocks noChangeAspect="1"/>
          </p:cNvPicPr>
          <p:nvPr/>
        </p:nvPicPr>
        <p:blipFill>
          <a:blip r:embed="rId4"/>
          <a:stretch>
            <a:fillRect/>
          </a:stretch>
        </p:blipFill>
        <p:spPr>
          <a:xfrm>
            <a:off x="998051" y="3773131"/>
            <a:ext cx="3913970" cy="294770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315644"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The Challenge: Fragmented Team Data</a:t>
            </a:r>
          </a:p>
        </p:txBody>
      </p:sp>
      <p:sp>
        <p:nvSpPr>
          <p:cNvPr id="5" name="TextBox 4"/>
          <p:cNvSpPr txBox="1"/>
          <p:nvPr/>
        </p:nvSpPr>
        <p:spPr>
          <a:xfrm>
            <a:off x="457200" y="1463040"/>
            <a:ext cx="11247120" cy="4503797"/>
          </a:xfrm>
          <a:prstGeom prst="rect">
            <a:avLst/>
          </a:prstGeom>
          <a:noFill/>
        </p:spPr>
        <p:txBody>
          <a:bodyPr wrap="square">
            <a:spAutoFit/>
          </a:bodyPr>
          <a:lstStyle/>
          <a:p>
            <a:pPr>
              <a:spcBef>
                <a:spcPts val="1800"/>
              </a:spcBef>
              <a:spcAft>
                <a:spcPts val="400"/>
              </a:spcAft>
              <a:defRPr sz="2200" b="1">
                <a:solidFill>
                  <a:srgbClr val="2E8B57"/>
                </a:solidFill>
              </a:defRPr>
            </a:pPr>
            <a:r>
              <a:rPr sz="1900" b="1">
                <a:solidFill>
                  <a:srgbClr val="033529"/>
                </a:solidFill>
                <a:latin typeface="Arial"/>
              </a:rPr>
              <a:t>Current data-sharing situation</a:t>
            </a:r>
          </a:p>
          <a:p>
            <a:pPr>
              <a:spcAft>
                <a:spcPts val="400"/>
              </a:spcAft>
            </a:pPr>
            <a:r>
              <a:rPr sz="1700" b="0">
                <a:solidFill>
                  <a:srgbClr val="1A1A1A"/>
                </a:solidFill>
                <a:latin typeface="Arial"/>
              </a:rPr>
              <a:t>• Valuable datasets sit scattered across teams, laptops, and shared drives — hard to find, easy to duplicate</a:t>
            </a:r>
          </a:p>
          <a:p>
            <a:pPr>
              <a:spcAft>
                <a:spcPts val="400"/>
              </a:spcAft>
            </a:pPr>
            <a:r>
              <a:rPr sz="1700" b="0">
                <a:solidFill>
                  <a:srgbClr val="1A1A1A"/>
                </a:solidFill>
                <a:latin typeface="Arial"/>
              </a:rPr>
              <a:t>• Sharing needs technical skills, so most data never leaves the team that produced it</a:t>
            </a:r>
          </a:p>
          <a:p>
            <a:pPr>
              <a:spcAft>
                <a:spcPts val="400"/>
              </a:spcAft>
            </a:pPr>
            <a:r>
              <a:rPr sz="1700" b="0">
                <a:solidFill>
                  <a:srgbClr val="1A1A1A"/>
                </a:solidFill>
                <a:latin typeface="Arial"/>
              </a:rPr>
              <a:t>• No common catalogue: nobody knows what exists, who owns it, or whether it is open, internal, or restricted</a:t>
            </a:r>
          </a:p>
          <a:p>
            <a:pPr>
              <a:spcAft>
                <a:spcPts val="400"/>
              </a:spcAft>
            </a:pPr>
            <a:r>
              <a:rPr sz="1900" b="1">
                <a:solidFill>
                  <a:srgbClr val="033529"/>
                </a:solidFill>
                <a:latin typeface="Arial"/>
              </a:rPr>
              <a:t>Consequences</a:t>
            </a:r>
          </a:p>
          <a:p>
            <a:pPr>
              <a:spcAft>
                <a:spcPts val="400"/>
              </a:spcAft>
            </a:pPr>
            <a:r>
              <a:rPr sz="1700" b="0">
                <a:solidFill>
                  <a:srgbClr val="1A1A1A"/>
                </a:solidFill>
                <a:latin typeface="Arial"/>
              </a:rPr>
              <a:t>• Duplicated collection and processing effort across teams</a:t>
            </a:r>
          </a:p>
          <a:p>
            <a:pPr>
              <a:spcAft>
                <a:spcPts val="400"/>
              </a:spcAft>
            </a:pPr>
            <a:r>
              <a:rPr sz="1700" b="0">
                <a:solidFill>
                  <a:srgbClr val="1A1A1A"/>
                </a:solidFill>
                <a:latin typeface="Arial"/>
              </a:rPr>
              <a:t>• High-value compilations (e.g. DST nutrient-response trials) invisible beyond their owners</a:t>
            </a:r>
          </a:p>
          <a:p>
            <a:pPr>
              <a:spcAft>
                <a:spcPts val="400"/>
              </a:spcAft>
            </a:pPr>
            <a:r>
              <a:rPr sz="1700" b="0">
                <a:solidFill>
                  <a:srgbClr val="1A1A1A"/>
                </a:solidFill>
                <a:latin typeface="Arial"/>
              </a:rPr>
              <a:t>• Institutional memory lost when staff move on</a:t>
            </a:r>
          </a:p>
          <a:p>
            <a:pPr>
              <a:spcAft>
                <a:spcPts val="400"/>
              </a:spcAft>
            </a:pPr>
            <a:r>
              <a:rPr sz="1700" b="0">
                <a:solidFill>
                  <a:srgbClr val="1A1A1A"/>
                </a:solidFill>
                <a:latin typeface="Arial"/>
              </a:rPr>
              <a:t>• Institutional data unreachable by AI assistants and LLM-based tools</a:t>
            </a:r>
          </a:p>
          <a:p>
            <a:pPr>
              <a:spcAft>
                <a:spcPts val="400"/>
              </a:spcAft>
            </a:pPr>
            <a:r>
              <a:rPr sz="1900" b="1">
                <a:solidFill>
                  <a:srgbClr val="033529"/>
                </a:solidFill>
                <a:latin typeface="Arial"/>
              </a:rPr>
              <a:t>Need: zero-skill sharing, one catalogue, AI-ready access — without changing how teams 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217862"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Our Solution: The ICRISAT Data Hub</a:t>
            </a:r>
          </a:p>
        </p:txBody>
      </p:sp>
      <p:sp>
        <p:nvSpPr>
          <p:cNvPr id="5" name="TextBox 4"/>
          <p:cNvSpPr txBox="1"/>
          <p:nvPr/>
        </p:nvSpPr>
        <p:spPr>
          <a:xfrm>
            <a:off x="25088" y="1223462"/>
            <a:ext cx="6958584" cy="5468164"/>
          </a:xfrm>
          <a:prstGeom prst="rect">
            <a:avLst/>
          </a:prstGeom>
          <a:noFill/>
        </p:spPr>
        <p:txBody>
          <a:bodyPr wrap="square">
            <a:spAutoFit/>
          </a:bodyPr>
          <a:lstStyle/>
          <a:p>
            <a:pPr>
              <a:spcBef>
                <a:spcPts val="1800"/>
              </a:spcBef>
              <a:spcAft>
                <a:spcPts val="400"/>
              </a:spcAft>
              <a:defRPr sz="2200" b="1">
                <a:solidFill>
                  <a:srgbClr val="2E8B57"/>
                </a:solidFill>
              </a:defRPr>
            </a:pPr>
            <a:r>
              <a:rPr sz="1800" b="1">
                <a:solidFill>
                  <a:srgbClr val="033529"/>
                </a:solidFill>
                <a:latin typeface="Arial"/>
              </a:rPr>
              <a:t>Zero-skill upload — three ways in</a:t>
            </a:r>
            <a:endParaRPr dirty="0">
              <a:latin typeface="Arial" panose="020B0604020202020204" pitchFamily="34" charset="0"/>
              <a:cs typeface="Arial" panose="020B0604020202020204" pitchFamily="34" charset="0"/>
            </a:endParaRPr>
          </a:p>
          <a:p>
            <a:pPr>
              <a:spcAft>
                <a:spcPts val="400"/>
              </a:spcAft>
            </a:pPr>
            <a:r>
              <a:rPr sz="1600" b="0">
                <a:solidFill>
                  <a:srgbClr val="1A1A1A"/>
                </a:solidFill>
                <a:latin typeface="Arial"/>
              </a:rPr>
              <a:t>• Drop folder, drag-&amp;-drop web page (token-protected link), or a tiny .meta.yaml sidecar</a:t>
            </a:r>
          </a:p>
          <a:p>
            <a:pPr>
              <a:spcAft>
                <a:spcPts val="400"/>
              </a:spcAft>
            </a:pPr>
            <a:r>
              <a:rPr sz="1800" b="1">
                <a:solidFill>
                  <a:srgbClr val="033529"/>
                </a:solidFill>
                <a:latin typeface="Arial"/>
              </a:rPr>
              <a:t>Automated pipeline</a:t>
            </a:r>
          </a:p>
          <a:p>
            <a:pPr>
              <a:spcAft>
                <a:spcPts val="400"/>
              </a:spcAft>
            </a:pPr>
            <a:r>
              <a:rPr sz="1600" b="0">
                <a:solidFill>
                  <a:srgbClr val="1A1A1A"/>
                </a:solidFill>
                <a:latin typeface="Arial"/>
              </a:rPr>
              <a:t>• Reads CSV / Excel / Word, profiles every sheet, dedups by content hash, flags metadata gaps with a pre-filled review template</a:t>
            </a:r>
          </a:p>
          <a:p>
            <a:pPr>
              <a:spcAft>
                <a:spcPts val="400"/>
              </a:spcAft>
            </a:pPr>
            <a:r>
              <a:rPr sz="1800" b="1">
                <a:solidFill>
                  <a:srgbClr val="033529"/>
                </a:solidFill>
                <a:latin typeface="Arial"/>
              </a:rPr>
              <a:t>Federation-first</a:t>
            </a:r>
          </a:p>
          <a:p>
            <a:pPr>
              <a:spcAft>
                <a:spcPts val="400"/>
              </a:spcAft>
            </a:pPr>
            <a:r>
              <a:rPr sz="1600" b="0">
                <a:solidFill>
                  <a:srgbClr val="1A1A1A"/>
                </a:solidFill>
                <a:latin typeface="Arial"/>
              </a:rPr>
              <a:t>• External data registered as YAML pointers — the hub points to where it lives (CHIRPS, AClimate)</a:t>
            </a:r>
          </a:p>
          <a:p>
            <a:pPr>
              <a:spcAft>
                <a:spcPts val="400"/>
              </a:spcAft>
            </a:pPr>
            <a:r>
              <a:rPr sz="1800" b="1">
                <a:solidFill>
                  <a:srgbClr val="033529"/>
                </a:solidFill>
                <a:latin typeface="Arial"/>
              </a:rPr>
              <a:t>AI-ready by design</a:t>
            </a:r>
          </a:p>
          <a:p>
            <a:pPr>
              <a:spcAft>
                <a:spcPts val="400"/>
              </a:spcAft>
            </a:pPr>
            <a:r>
              <a:rPr sz="1600" b="0">
                <a:solidFill>
                  <a:srgbClr val="1A1A1A"/>
                </a:solidFill>
                <a:latin typeface="Arial"/>
              </a:rPr>
              <a:t>• MCP server lets any LLM search, inspect schemas, preview and query (read-only SQL), stdio or HTTP</a:t>
            </a:r>
          </a:p>
          <a:p>
            <a:pPr>
              <a:spcAft>
                <a:spcPts val="400"/>
              </a:spcAft>
            </a:pPr>
            <a:r>
              <a:rPr sz="1800" b="1">
                <a:solidFill>
                  <a:srgbClr val="033529"/>
                </a:solidFill>
                <a:latin typeface="Arial"/>
              </a:rPr>
              <a:t>Public dashboard</a:t>
            </a:r>
          </a:p>
          <a:p>
            <a:pPr>
              <a:spcAft>
                <a:spcPts val="400"/>
              </a:spcAft>
            </a:pPr>
            <a:r>
              <a:rPr sz="1600" b="0">
                <a:solidFill>
                  <a:srgbClr val="1A1A1A"/>
                </a:solidFill>
                <a:latin typeface="Arial"/>
              </a:rPr>
              <a:t>• ICRISAT-branded Asset Explorer on GitHub Pages →</a:t>
            </a:r>
          </a:p>
        </p:txBody>
      </p:sp>
      <p:pic>
        <p:nvPicPr>
          <p:cNvPr id="6" name="Picture 5" descr="image.png"/>
          <p:cNvPicPr>
            <a:picLocks noChangeAspect="1"/>
          </p:cNvPicPr>
          <p:nvPr/>
        </p:nvPicPr>
        <p:blipFill>
          <a:blip r:embed="rId2"/>
          <a:stretch>
            <a:fillRect/>
          </a:stretch>
        </p:blipFill>
        <p:spPr>
          <a:xfrm>
            <a:off x="6848856" y="2491427"/>
            <a:ext cx="5318056" cy="262678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4156074"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System Architecture</a:t>
            </a:r>
          </a:p>
        </p:txBody>
      </p:sp>
      <p:sp>
        <p:nvSpPr>
          <p:cNvPr id="5" name="TextBox 4"/>
          <p:cNvSpPr txBox="1"/>
          <p:nvPr/>
        </p:nvSpPr>
        <p:spPr>
          <a:xfrm>
            <a:off x="457200" y="1371600"/>
            <a:ext cx="2584234" cy="430887"/>
          </a:xfrm>
          <a:prstGeom prst="rect">
            <a:avLst/>
          </a:prstGeom>
          <a:noFill/>
        </p:spPr>
        <p:txBody>
          <a:bodyPr wrap="none">
            <a:spAutoFit/>
          </a:bodyPr>
          <a:lstStyle/>
          <a:p>
            <a:pPr>
              <a:spcAft>
                <a:spcPts val="400"/>
              </a:spcAft>
              <a:defRPr sz="2200" b="1">
                <a:solidFill>
                  <a:srgbClr val="2E8B57"/>
                </a:solidFill>
              </a:defRPr>
            </a:pPr>
            <a:r>
              <a:rPr sz="2000" b="1">
                <a:solidFill>
                  <a:srgbClr val="033529"/>
                </a:solidFill>
                <a:latin typeface="Arial"/>
              </a:rPr>
              <a:t>Technology Stack</a:t>
            </a:r>
          </a:p>
        </p:txBody>
      </p:sp>
      <p:sp>
        <p:nvSpPr>
          <p:cNvPr id="6" name="TextBox 5"/>
          <p:cNvSpPr txBox="1"/>
          <p:nvPr/>
        </p:nvSpPr>
        <p:spPr>
          <a:xfrm>
            <a:off x="457200" y="1920240"/>
            <a:ext cx="5431536" cy="1733808"/>
          </a:xfrm>
          <a:prstGeom prst="rect">
            <a:avLst/>
          </a:prstGeom>
          <a:noFill/>
        </p:spPr>
        <p:txBody>
          <a:bodyPr wrap="square">
            <a:spAutoFit/>
          </a:bodyPr>
          <a:lstStyle/>
          <a:p>
            <a:pPr>
              <a:spcBef>
                <a:spcPts val="800"/>
              </a:spcBef>
              <a:spcAft>
                <a:spcPts val="400"/>
              </a:spcAft>
              <a:defRPr sz="1600">
                <a:solidFill>
                  <a:srgbClr val="000000"/>
                </a:solidFill>
              </a:defRPr>
            </a:pPr>
            <a:r>
              <a:rPr sz="1500" b="0">
                <a:solidFill>
                  <a:srgbClr val="1A1A1A"/>
                </a:solidFill>
                <a:latin typeface="Arial"/>
              </a:rPr>
              <a:t>• Upload: FastAPI web app (token-gated) + folder watcher (watchdog)</a:t>
            </a:r>
          </a:p>
          <a:p>
            <a:pPr>
              <a:spcAft>
                <a:spcPts val="400"/>
              </a:spcAft>
            </a:pPr>
            <a:r>
              <a:rPr sz="1500" b="0">
                <a:solidFill>
                  <a:srgbClr val="1A1A1A"/>
                </a:solidFill>
                <a:latin typeface="Arial"/>
              </a:rPr>
              <a:t>• Pipeline: Python — pandas, openpyxl, python-docx, DuckDB</a:t>
            </a:r>
          </a:p>
          <a:p>
            <a:pPr>
              <a:spcAft>
                <a:spcPts val="400"/>
              </a:spcAft>
            </a:pPr>
            <a:r>
              <a:rPr sz="1500" b="0">
                <a:solidFill>
                  <a:srgbClr val="1A1A1A"/>
                </a:solidFill>
                <a:latin typeface="Arial"/>
              </a:rPr>
              <a:t>• Catalogue: SQLite + exported assets.json (CDH-style)</a:t>
            </a:r>
          </a:p>
          <a:p>
            <a:pPr>
              <a:spcAft>
                <a:spcPts val="400"/>
              </a:spcAft>
            </a:pPr>
            <a:r>
              <a:rPr sz="1500" b="0">
                <a:solidFill>
                  <a:srgbClr val="1A1A1A"/>
                </a:solidFill>
                <a:latin typeface="Arial"/>
              </a:rPr>
              <a:t>• AI access: MCP server (MCP 2.0 SDK), stdio + streamable HTTP</a:t>
            </a:r>
          </a:p>
          <a:p>
            <a:pPr>
              <a:spcAft>
                <a:spcPts val="400"/>
              </a:spcAft>
            </a:pPr>
            <a:r>
              <a:rPr sz="1500" b="0">
                <a:solidFill>
                  <a:srgbClr val="1A1A1A"/>
                </a:solidFill>
                <a:latin typeface="Arial"/>
              </a:rPr>
              <a:t>• Dashboard: Chart.js + vanilla JS on GitHub Pages; auto-refresh via GitHub Actions</a:t>
            </a:r>
          </a:p>
          <a:p>
            <a:pPr>
              <a:spcAft>
                <a:spcPts val="400"/>
              </a:spcAft>
            </a:pPr>
            <a:r>
              <a:rPr sz="1500" b="0">
                <a:solidFill>
                  <a:srgbClr val="1A1A1A"/>
                </a:solidFill>
                <a:latin typeface="Arial"/>
              </a:rPr>
              <a:t>• Deployment: local, cloudflared/ngrok tunnel, or Docker on Railway/Render</a:t>
            </a:r>
          </a:p>
        </p:txBody>
      </p:sp>
      <p:sp>
        <p:nvSpPr>
          <p:cNvPr id="7" name="Rectangle 6"/>
          <p:cNvSpPr/>
          <p:nvPr/>
        </p:nvSpPr>
        <p:spPr>
          <a:xfrm>
            <a:off x="5943600" y="1371600"/>
            <a:ext cx="27432" cy="50292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1371600"/>
            <a:ext cx="1519968" cy="430887"/>
          </a:xfrm>
          <a:prstGeom prst="rect">
            <a:avLst/>
          </a:prstGeom>
          <a:noFill/>
        </p:spPr>
        <p:txBody>
          <a:bodyPr wrap="none">
            <a:spAutoFit/>
          </a:bodyPr>
          <a:lstStyle/>
          <a:p>
            <a:pPr>
              <a:spcAft>
                <a:spcPts val="400"/>
              </a:spcAft>
              <a:defRPr sz="2200" b="1">
                <a:solidFill>
                  <a:srgbClr val="2E8B57"/>
                </a:solidFill>
              </a:defRPr>
            </a:pPr>
            <a:r>
              <a:rPr sz="2000" b="1">
                <a:solidFill>
                  <a:srgbClr val="033529"/>
                </a:solidFill>
                <a:latin typeface="Arial"/>
              </a:rPr>
              <a:t>Data Flow</a:t>
            </a:r>
          </a:p>
        </p:txBody>
      </p:sp>
      <p:sp>
        <p:nvSpPr>
          <p:cNvPr id="9" name="TextBox 8"/>
          <p:cNvSpPr txBox="1"/>
          <p:nvPr/>
        </p:nvSpPr>
        <p:spPr>
          <a:xfrm>
            <a:off x="6309360" y="1920240"/>
            <a:ext cx="5394960" cy="2082621"/>
          </a:xfrm>
          <a:prstGeom prst="rect">
            <a:avLst/>
          </a:prstGeom>
          <a:noFill/>
        </p:spPr>
        <p:txBody>
          <a:bodyPr wrap="square">
            <a:spAutoFit/>
          </a:bodyPr>
          <a:lstStyle/>
          <a:p>
            <a:pPr marL="342900" indent="-342900">
              <a:spcBef>
                <a:spcPts val="800"/>
              </a:spcBef>
              <a:spcAft>
                <a:spcPts val="400"/>
              </a:spcAft>
              <a:buFont typeface="+mj-lt"/>
              <a:defRPr sz="1600">
                <a:solidFill>
                  <a:srgbClr val="000000"/>
                </a:solidFill>
              </a:defRPr>
            </a:pPr>
            <a:r>
              <a:rPr sz="1500" b="0">
                <a:solidFill>
                  <a:srgbClr val="1A1A1A"/>
                </a:solidFill>
                <a:latin typeface="Arial"/>
              </a:rPr>
              <a:t>• Team drops a file (folder, web page, or with sidecar metadata)</a:t>
            </a:r>
          </a:p>
          <a:p>
            <a:pPr>
              <a:spcAft>
                <a:spcPts val="400"/>
              </a:spcAft>
            </a:pPr>
            <a:r>
              <a:rPr sz="1500" b="0">
                <a:solidFill>
                  <a:srgbClr val="1A1A1A"/>
                </a:solidFill>
                <a:latin typeface="Arial"/>
              </a:rPr>
              <a:t>• Pipeline reads and profiles every sheet; hash-dedups against the catalogue</a:t>
            </a:r>
          </a:p>
          <a:p>
            <a:pPr>
              <a:spcAft>
                <a:spcPts val="400"/>
              </a:spcAft>
            </a:pPr>
            <a:r>
              <a:rPr sz="1500" b="0">
                <a:solidFill>
                  <a:srgbClr val="1A1A1A"/>
                </a:solidFill>
                <a:latin typeface="Arial"/>
              </a:rPr>
              <a:t>• Asset registered in SQLite with status published or needs_review</a:t>
            </a:r>
          </a:p>
          <a:p>
            <a:pPr>
              <a:spcAft>
                <a:spcPts val="400"/>
              </a:spcAft>
            </a:pPr>
            <a:r>
              <a:rPr sz="1500" b="0">
                <a:solidFill>
                  <a:srgbClr val="1A1A1A"/>
                </a:solidFill>
                <a:latin typeface="Arial"/>
              </a:rPr>
              <a:t>• Catalogue exported to assets.json; dashboard data regenerated</a:t>
            </a:r>
          </a:p>
          <a:p>
            <a:pPr>
              <a:spcAft>
                <a:spcPts val="400"/>
              </a:spcAft>
            </a:pPr>
            <a:r>
              <a:rPr sz="1500" b="0">
                <a:solidFill>
                  <a:srgbClr val="1A1A1A"/>
                </a:solidFill>
                <a:latin typeface="Arial"/>
              </a:rPr>
              <a:t>• Dashboard updated on GitHub Pages (commit or GitHub Action)</a:t>
            </a:r>
          </a:p>
          <a:p>
            <a:pPr>
              <a:spcAft>
                <a:spcPts val="400"/>
              </a:spcAft>
            </a:pPr>
            <a:r>
              <a:rPr sz="1500" b="0">
                <a:solidFill>
                  <a:srgbClr val="1A1A1A"/>
                </a:solidFill>
                <a:latin typeface="Arial"/>
              </a:rPr>
              <a:t>• LLMs discover and query assets through the MCP server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42048" y="274320"/>
            <a:ext cx="11886762" cy="523220"/>
          </a:xfrm>
          <a:prstGeom prst="rect">
            <a:avLst/>
          </a:prstGeom>
          <a:noFill/>
        </p:spPr>
        <p:txBody>
          <a:bodyPr wrap="square">
            <a:spAutoFit/>
          </a:bodyPr>
          <a:lstStyle/>
          <a:p>
            <a:pPr>
              <a:spcAft>
                <a:spcPts val="400"/>
              </a:spcAft>
              <a:defRPr sz="3200" b="1">
                <a:solidFill>
                  <a:srgbClr val="FFFFFF"/>
                </a:solidFill>
              </a:defRPr>
            </a:pPr>
            <a:r>
              <a:rPr sz="3200" b="1">
                <a:solidFill>
                  <a:srgbClr val="FFFFFF"/>
                </a:solidFill>
                <a:latin typeface="Arial"/>
              </a:rPr>
              <a:t>User Interface: Public Dashboard — Portfolio Overview</a:t>
            </a:r>
            <a:endParaRPr sz="2800" dirty="0">
              <a:latin typeface="Arial" panose="020B0604020202020204" pitchFamily="34" charset="0"/>
              <a:cs typeface="Arial" panose="020B0604020202020204" pitchFamily="34" charset="0"/>
            </a:endParaRPr>
          </a:p>
        </p:txBody>
      </p:sp>
      <p:sp>
        <p:nvSpPr>
          <p:cNvPr id="5" name="TextBox 4"/>
          <p:cNvSpPr txBox="1"/>
          <p:nvPr/>
        </p:nvSpPr>
        <p:spPr>
          <a:xfrm>
            <a:off x="322729" y="1371600"/>
            <a:ext cx="5200248" cy="4883388"/>
          </a:xfrm>
          <a:prstGeom prst="rect">
            <a:avLst/>
          </a:prstGeom>
          <a:noFill/>
        </p:spPr>
        <p:txBody>
          <a:bodyPr wrap="square">
            <a:spAutoFit/>
          </a:bodyPr>
          <a:lstStyle/>
          <a:p>
            <a:pPr>
              <a:spcBef>
                <a:spcPts val="1800"/>
              </a:spcBef>
              <a:spcAft>
                <a:spcPts val="400"/>
              </a:spcAft>
              <a:defRPr sz="2200" b="1">
                <a:solidFill>
                  <a:srgbClr val="2E8B57"/>
                </a:solidFill>
              </a:defRPr>
            </a:pPr>
            <a:r>
              <a:rPr sz="1700" b="1">
                <a:solidFill>
                  <a:srgbClr val="033529"/>
                </a:solidFill>
                <a:latin typeface="Arial"/>
              </a:rPr>
              <a:t>Coverage &amp; insights</a:t>
            </a:r>
          </a:p>
          <a:p>
            <a:pPr>
              <a:spcAft>
                <a:spcPts val="400"/>
              </a:spcAft>
            </a:pPr>
            <a:r>
              <a:rPr sz="1500" b="0">
                <a:solidFill>
                  <a:srgbClr val="1A1A1A"/>
                </a:solidFill>
                <a:latin typeface="Arial"/>
              </a:rPr>
              <a:t>• Team × file-type coverage matrix — click a cell to drill in</a:t>
            </a:r>
          </a:p>
          <a:p>
            <a:pPr>
              <a:spcAft>
                <a:spcPts val="400"/>
              </a:spcAft>
            </a:pPr>
            <a:r>
              <a:rPr sz="1500" b="0">
                <a:solidFill>
                  <a:srgbClr val="1A1A1A"/>
                </a:solidFill>
                <a:latin typeface="Arial"/>
              </a:rPr>
              <a:t>• Auto-generated insights: largest contributor, newest addition, review status</a:t>
            </a:r>
          </a:p>
          <a:p>
            <a:pPr>
              <a:spcAft>
                <a:spcPts val="400"/>
              </a:spcAft>
            </a:pPr>
            <a:r>
              <a:rPr sz="1500" b="0">
                <a:solidFill>
                  <a:srgbClr val="1A1A1A"/>
                </a:solidFill>
                <a:latin typeface="Arial"/>
              </a:rPr>
              <a:t>• Assets-per-team bars split by catalogue status</a:t>
            </a:r>
          </a:p>
          <a:p>
            <a:pPr>
              <a:spcAft>
                <a:spcPts val="400"/>
              </a:spcAft>
            </a:pPr>
            <a:r>
              <a:rPr sz="1700" b="1">
                <a:solidFill>
                  <a:srgbClr val="033529"/>
                </a:solidFill>
                <a:latin typeface="Arial"/>
              </a:rPr>
              <a:t>Charts</a:t>
            </a:r>
          </a:p>
          <a:p>
            <a:pPr>
              <a:spcAft>
                <a:spcPts val="400"/>
              </a:spcAft>
            </a:pPr>
            <a:r>
              <a:rPr sz="1500" b="0">
                <a:solidFill>
                  <a:srgbClr val="1A1A1A"/>
                </a:solidFill>
                <a:latin typeface="Arial"/>
              </a:rPr>
              <a:t>• Domain mix, data access (open / internal / restricted), file types</a:t>
            </a:r>
          </a:p>
          <a:p>
            <a:pPr>
              <a:spcAft>
                <a:spcPts val="400"/>
              </a:spcAft>
            </a:pPr>
            <a:r>
              <a:rPr sz="1500" b="0">
                <a:solidFill>
                  <a:srgbClr val="1A1A1A"/>
                </a:solidFill>
                <a:latin typeface="Arial"/>
              </a:rPr>
              <a:t>• KPI strip: assets, teams, open-access share, published, needs review — clickable</a:t>
            </a:r>
          </a:p>
          <a:p>
            <a:pPr>
              <a:spcAft>
                <a:spcPts val="400"/>
              </a:spcAft>
            </a:pPr>
            <a:r>
              <a:rPr sz="1500" b="0">
                <a:solidFill>
                  <a:srgbClr val="1A1A1A"/>
                </a:solidFill>
                <a:latin typeface="Arial"/>
              </a:rPr>
              <a:t>• Faceted filters with per-value counts; every figure computed from the catalogue</a:t>
            </a:r>
          </a:p>
        </p:txBody>
      </p:sp>
      <p:pic>
        <p:nvPicPr>
          <p:cNvPr id="6" name="Picture 5" descr="image.png"/>
          <p:cNvPicPr>
            <a:picLocks noChangeAspect="1"/>
          </p:cNvPicPr>
          <p:nvPr/>
        </p:nvPicPr>
        <p:blipFill>
          <a:blip r:embed="rId2"/>
          <a:stretch>
            <a:fillRect/>
          </a:stretch>
        </p:blipFill>
        <p:spPr>
          <a:xfrm>
            <a:off x="5389827" y="2338811"/>
            <a:ext cx="6770426" cy="334416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5445145"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User Interface: Explore the Catalogue</a:t>
            </a:r>
          </a:p>
        </p:txBody>
      </p:sp>
      <p:sp>
        <p:nvSpPr>
          <p:cNvPr id="5" name="TextBox 4"/>
          <p:cNvSpPr txBox="1"/>
          <p:nvPr/>
        </p:nvSpPr>
        <p:spPr>
          <a:xfrm>
            <a:off x="457200" y="1463040"/>
            <a:ext cx="4974336" cy="3831818"/>
          </a:xfrm>
          <a:prstGeom prst="rect">
            <a:avLst/>
          </a:prstGeom>
          <a:noFill/>
        </p:spPr>
        <p:txBody>
          <a:bodyPr wrap="square">
            <a:spAutoFit/>
          </a:bodyPr>
          <a:lstStyle/>
          <a:p>
            <a:pPr>
              <a:spcBef>
                <a:spcPts val="1800"/>
              </a:spcBef>
              <a:spcAft>
                <a:spcPts val="400"/>
              </a:spcAft>
              <a:defRPr sz="2200" b="1">
                <a:solidFill>
                  <a:srgbClr val="2E8B57"/>
                </a:solidFill>
              </a:defRPr>
            </a:pPr>
            <a:r>
              <a:rPr sz="1700" b="1">
                <a:solidFill>
                  <a:srgbClr val="033529"/>
                </a:solidFill>
                <a:latin typeface="Arial"/>
              </a:rPr>
              <a:t>Find any asset</a:t>
            </a:r>
          </a:p>
          <a:p>
            <a:pPr>
              <a:spcAft>
                <a:spcPts val="400"/>
              </a:spcAft>
            </a:pPr>
            <a:r>
              <a:rPr sz="1500" b="0">
                <a:solidFill>
                  <a:srgbClr val="1A1A1A"/>
                </a:solidFill>
                <a:latin typeface="Arial"/>
              </a:rPr>
              <a:t>• Full-text search across titles, descriptions, column names, tags, and document text</a:t>
            </a:r>
          </a:p>
          <a:p>
            <a:pPr>
              <a:spcAft>
                <a:spcPts val="400"/>
              </a:spcAft>
            </a:pPr>
            <a:r>
              <a:rPr sz="1500" b="0">
                <a:solidFill>
                  <a:srgbClr val="1A1A1A"/>
                </a:solidFill>
                <a:latin typeface="Arial"/>
              </a:rPr>
              <a:t>• Filter by team, file type, status, access, and domain</a:t>
            </a:r>
          </a:p>
          <a:p>
            <a:pPr>
              <a:spcAft>
                <a:spcPts val="400"/>
              </a:spcAft>
            </a:pPr>
            <a:r>
              <a:rPr sz="1500" b="0">
                <a:solidFill>
                  <a:srgbClr val="1A1A1A"/>
                </a:solidFill>
                <a:latin typeface="Arial"/>
              </a:rPr>
              <a:t>• Sortable table; Export CSV of the current view</a:t>
            </a:r>
          </a:p>
          <a:p>
            <a:pPr>
              <a:spcAft>
                <a:spcPts val="400"/>
              </a:spcAft>
            </a:pPr>
            <a:r>
              <a:rPr sz="1700" b="1">
                <a:solidFill>
                  <a:srgbClr val="033529"/>
                </a:solidFill>
                <a:latin typeface="Arial"/>
              </a:rPr>
              <a:t>Inspect before you download</a:t>
            </a:r>
          </a:p>
          <a:p>
            <a:pPr>
              <a:spcAft>
                <a:spcPts val="400"/>
              </a:spcAft>
            </a:pPr>
            <a:r>
              <a:rPr sz="1500" b="0">
                <a:solidFill>
                  <a:srgbClr val="1A1A1A"/>
                </a:solidFill>
                <a:latin typeface="Arial"/>
              </a:rPr>
              <a:t>• Row click opens a detail drawer: full metadata, provenance, and per-sheet schema</a:t>
            </a:r>
          </a:p>
          <a:p>
            <a:pPr>
              <a:spcAft>
                <a:spcPts val="400"/>
              </a:spcAft>
            </a:pPr>
            <a:r>
              <a:rPr sz="1500" b="0">
                <a:solidFill>
                  <a:srgbClr val="1A1A1A"/>
                </a:solidFill>
                <a:latin typeface="Arial"/>
              </a:rPr>
              <a:t>• Column names, data types, and sample values for every table</a:t>
            </a:r>
          </a:p>
          <a:p>
            <a:pPr>
              <a:spcAft>
                <a:spcPts val="400"/>
              </a:spcAft>
            </a:pPr>
            <a:r>
              <a:rPr sz="1500" b="0">
                <a:solidFill>
                  <a:srgbClr val="1A1A1A"/>
                </a:solidFill>
                <a:latin typeface="Arial"/>
              </a:rPr>
              <a:t>• Word documents show extracted text and outline</a:t>
            </a:r>
          </a:p>
          <a:p>
            <a:pPr>
              <a:spcAft>
                <a:spcPts val="400"/>
              </a:spcAft>
            </a:pPr>
            <a:r>
              <a:rPr sz="1500" b="0">
                <a:solidFill>
                  <a:srgbClr val="1A1A1A"/>
                </a:solidFill>
                <a:latin typeface="Arial"/>
              </a:rPr>
              <a:t>• Access badges make open vs internal vs restricted unmistakable</a:t>
            </a:r>
          </a:p>
        </p:txBody>
      </p:sp>
      <p:pic>
        <p:nvPicPr>
          <p:cNvPr id="6" name="Picture 5" descr="image.png"/>
          <p:cNvPicPr>
            <a:picLocks noChangeAspect="1"/>
          </p:cNvPicPr>
          <p:nvPr/>
        </p:nvPicPr>
        <p:blipFill>
          <a:blip r:embed="rId2"/>
          <a:stretch>
            <a:fillRect/>
          </a:stretch>
        </p:blipFill>
        <p:spPr>
          <a:xfrm>
            <a:off x="5340095" y="2221806"/>
            <a:ext cx="7044963" cy="341981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 y="274320"/>
            <a:ext cx="12191694" cy="584775"/>
          </a:xfrm>
          <a:prstGeom prst="rect">
            <a:avLst/>
          </a:prstGeom>
          <a:noFill/>
        </p:spPr>
        <p:txBody>
          <a:bodyPr wrap="square">
            <a:spAutoFit/>
          </a:bodyPr>
          <a:lstStyle/>
          <a:p>
            <a:pPr>
              <a:spcAft>
                <a:spcPts val="400"/>
              </a:spcAft>
              <a:defRPr sz="3200" b="1">
                <a:solidFill>
                  <a:srgbClr val="FFFFFF"/>
                </a:solidFill>
              </a:defRPr>
            </a:pPr>
            <a:r>
              <a:rPr sz="3200" b="1">
                <a:solidFill>
                  <a:srgbClr val="FFFFFF"/>
                </a:solidFill>
                <a:latin typeface="Arial"/>
              </a:rPr>
              <a:t>User Interface: Upload Channels &amp; Federated Sources</a:t>
            </a:r>
            <a:endParaRPr dirty="0"/>
          </a:p>
        </p:txBody>
      </p:sp>
      <p:sp>
        <p:nvSpPr>
          <p:cNvPr id="5" name="TextBox 4"/>
          <p:cNvSpPr txBox="1"/>
          <p:nvPr/>
        </p:nvSpPr>
        <p:spPr>
          <a:xfrm>
            <a:off x="457201" y="1463040"/>
            <a:ext cx="3602736" cy="3934410"/>
          </a:xfrm>
          <a:prstGeom prst="rect">
            <a:avLst/>
          </a:prstGeom>
          <a:noFill/>
        </p:spPr>
        <p:txBody>
          <a:bodyPr wrap="square">
            <a:spAutoFit/>
          </a:bodyPr>
          <a:lstStyle/>
          <a:p>
            <a:pPr>
              <a:spcBef>
                <a:spcPts val="1800"/>
              </a:spcBef>
              <a:spcAft>
                <a:spcPts val="400"/>
              </a:spcAft>
              <a:defRPr sz="2200" b="1">
                <a:solidFill>
                  <a:srgbClr val="2E8B57"/>
                </a:solidFill>
              </a:defRPr>
            </a:pPr>
            <a:r>
              <a:rPr sz="1700" b="1">
                <a:solidFill>
                  <a:srgbClr val="033529"/>
                </a:solidFill>
                <a:latin typeface="Arial"/>
              </a:rPr>
              <a:t>Upload view</a:t>
            </a:r>
          </a:p>
          <a:p>
            <a:pPr>
              <a:spcAft>
                <a:spcPts val="400"/>
              </a:spcAft>
            </a:pPr>
            <a:r>
              <a:rPr sz="1500" b="0">
                <a:solidFill>
                  <a:srgbClr val="1A1A1A"/>
                </a:solidFill>
                <a:latin typeface="Arial"/>
              </a:rPr>
              <a:t>• How data arrives: drop folder vs web form vs documented sidecar</a:t>
            </a:r>
          </a:p>
          <a:p>
            <a:pPr>
              <a:spcAft>
                <a:spcPts val="400"/>
              </a:spcAft>
            </a:pPr>
            <a:r>
              <a:rPr sz="1500" b="0">
                <a:solidFill>
                  <a:srgbClr val="1A1A1A"/>
                </a:solidFill>
                <a:latin typeface="Arial"/>
              </a:rPr>
              <a:t>• Metadata-completeness bar and most-missing-fields ranking</a:t>
            </a:r>
          </a:p>
          <a:p>
            <a:pPr>
              <a:spcAft>
                <a:spcPts val="400"/>
              </a:spcAft>
            </a:pPr>
            <a:r>
              <a:rPr sz="1500" b="0">
                <a:solidFill>
                  <a:srgbClr val="1A1A1A"/>
                </a:solidFill>
                <a:latin typeface="Arial"/>
              </a:rPr>
              <a:t>• Catalogue growth timeline</a:t>
            </a:r>
          </a:p>
          <a:p>
            <a:pPr>
              <a:spcAft>
                <a:spcPts val="400"/>
              </a:spcAft>
            </a:pPr>
            <a:r>
              <a:rPr sz="1700" b="1">
                <a:solidFill>
                  <a:srgbClr val="033529"/>
                </a:solidFill>
                <a:latin typeface="Arial"/>
              </a:rPr>
              <a:t>Sources view</a:t>
            </a:r>
          </a:p>
          <a:p>
            <a:pPr>
              <a:spcAft>
                <a:spcPts val="400"/>
              </a:spcAft>
            </a:pPr>
            <a:r>
              <a:rPr sz="1500" b="0">
                <a:solidFill>
                  <a:srgbClr val="1A1A1A"/>
                </a:solidFill>
                <a:latin typeface="Arial"/>
              </a:rPr>
              <a:t>• Federated external datasets/APIs registered as YAML pointers</a:t>
            </a:r>
          </a:p>
          <a:p>
            <a:pPr>
              <a:spcAft>
                <a:spcPts val="400"/>
              </a:spcAft>
            </a:pPr>
            <a:r>
              <a:rPr sz="1500" b="0">
                <a:solidFill>
                  <a:srgbClr val="1A1A1A"/>
                </a:solidFill>
                <a:latin typeface="Arial"/>
              </a:rPr>
              <a:t>• Domain definitions from the controlled vocabulary</a:t>
            </a:r>
          </a:p>
        </p:txBody>
      </p:sp>
      <p:pic>
        <p:nvPicPr>
          <p:cNvPr id="6" name="Picture 5" descr="Screenshot 2026-07-29 141603.png"/>
          <p:cNvPicPr>
            <a:picLocks noChangeAspect="1"/>
          </p:cNvPicPr>
          <p:nvPr/>
        </p:nvPicPr>
        <p:blipFill>
          <a:blip r:embed="rId2"/>
          <a:stretch>
            <a:fillRect/>
          </a:stretch>
        </p:blipFill>
        <p:spPr>
          <a:xfrm>
            <a:off x="5310143" y="1188720"/>
            <a:ext cx="5564592" cy="2766060"/>
          </a:xfrm>
          <a:prstGeom prst="rect">
            <a:avLst/>
          </a:prstGeom>
        </p:spPr>
      </p:pic>
      <p:pic>
        <p:nvPicPr>
          <p:cNvPr id="7" name="Picture 6" descr="Screenshot 2026-07-29 141631.png"/>
          <p:cNvPicPr>
            <a:picLocks noChangeAspect="1"/>
          </p:cNvPicPr>
          <p:nvPr/>
        </p:nvPicPr>
        <p:blipFill>
          <a:blip r:embed="rId3"/>
          <a:stretch>
            <a:fillRect/>
          </a:stretch>
        </p:blipFill>
        <p:spPr>
          <a:xfrm>
            <a:off x="5310143" y="4091940"/>
            <a:ext cx="5564592" cy="27660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7856638"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Core Implementation (Ingest Pipeline + MCP)</a:t>
            </a:r>
          </a:p>
        </p:txBody>
      </p:sp>
      <p:sp>
        <p:nvSpPr>
          <p:cNvPr id="5" name="Rounded Rectangle 4"/>
          <p:cNvSpPr/>
          <p:nvPr/>
        </p:nvSpPr>
        <p:spPr>
          <a:xfrm>
            <a:off x="274320" y="1371600"/>
            <a:ext cx="11612880" cy="5212080"/>
          </a:xfrm>
          <a:prstGeom prst="roundRect">
            <a:avLst/>
          </a:prstGeom>
          <a:solidFill>
            <a:srgbClr val="282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481328"/>
            <a:ext cx="11247120" cy="4293483"/>
          </a:xfrm>
          <a:prstGeom prst="rect">
            <a:avLst/>
          </a:prstGeom>
          <a:noFill/>
        </p:spPr>
        <p:txBody>
          <a:bodyPr wrap="square">
            <a:spAutoFit/>
          </a:bodyPr>
          <a:lstStyle/>
          <a:p>
            <a:pPr>
              <a:defRPr sz="1300">
                <a:solidFill>
                  <a:srgbClr val="ABB2BF"/>
                </a:solidFill>
                <a:latin typeface="Consolas"/>
              </a:defRPr>
            </a:pPr>
            <a:r>
              <a:rPr sz="1300">
                <a:solidFill>
                  <a:srgbClr val="E4E7EC"/>
                </a:solidFill>
                <a:latin typeface="Consolas"/>
              </a:rPr>
              <a:t># src/hub/ingest/pipeline.py — one ingest path for every channel</a:t>
            </a:r>
          </a:p>
          <a:p>
            <a:r>
              <a:rPr sz="1300">
                <a:solidFill>
                  <a:srgbClr val="E4E7EC"/>
                </a:solidFill>
                <a:latin typeface="Consolas"/>
              </a:rPr>
              <a:t>def ingest_file(file_path, config, catalog, extra_metadata=None):</a:t>
            </a:r>
          </a:p>
          <a:p>
            <a:r>
              <a:rPr sz="1300">
                <a:solidFill>
                  <a:srgbClr val="E4E7EC"/>
                </a:solidFill>
                <a:latin typeface="Consolas"/>
              </a:rPr>
              <a:t>    digest = sha256_of(file_path)            # dedup by content hash</a:t>
            </a:r>
          </a:p>
          <a:p>
            <a:r>
              <a:rPr sz="1300">
                <a:solidFill>
                  <a:srgbClr val="E4E7EC"/>
                </a:solidFill>
                <a:latin typeface="Consolas"/>
              </a:rPr>
              <a:t>    if catalog.has_hash(digest):</a:t>
            </a:r>
          </a:p>
          <a:p>
            <a:r>
              <a:rPr sz="1300">
                <a:solidFill>
                  <a:srgbClr val="E4E7EC"/>
                </a:solidFill>
                <a:latin typeface="Consolas"/>
              </a:rPr>
              <a:t>        return {"ok": False, "reason": "duplicate"}</a:t>
            </a:r>
          </a:p>
          <a:p>
            <a:r>
              <a:rPr sz="1300">
                <a:solidFill>
                  <a:srgbClr val="E4E7EC"/>
                </a:solidFill>
                <a:latin typeface="Consolas"/>
              </a:rPr>
              <a:t>    tables  = read_file(file_path)           # CSV | Excel (multi-sheet) | Word</a:t>
            </a:r>
          </a:p>
          <a:p>
            <a:r>
              <a:rPr sz="1300">
                <a:solidFill>
                  <a:srgbClr val="E4E7EC"/>
                </a:solidFill>
                <a:latin typeface="Consolas"/>
              </a:rPr>
              <a:t>    meta    = infer_metadata(file_path, tables)      # filename, shape, columns</a:t>
            </a:r>
          </a:p>
          <a:p>
            <a:r>
              <a:rPr sz="1300">
                <a:solidFill>
                  <a:srgbClr val="E4E7EC"/>
                </a:solidFill>
                <a:latin typeface="Consolas"/>
              </a:rPr>
              <a:t>    meta.update(load_sidecar_metadata(file_path))    # optional .meta.yaml</a:t>
            </a:r>
          </a:p>
          <a:p>
            <a:r>
              <a:rPr sz="1300">
                <a:solidFill>
                  <a:srgbClr val="E4E7EC"/>
                </a:solidFill>
                <a:latin typeface="Consolas"/>
              </a:rPr>
              <a:t>    profile = profile_tables(tables, config)         # schema + sample values</a:t>
            </a:r>
          </a:p>
          <a:p>
            <a:r>
              <a:rPr sz="1300">
                <a:solidFill>
                  <a:srgbClr val="E4E7EC"/>
                </a:solidFill>
                <a:latin typeface="Consolas"/>
              </a:rPr>
              <a:t>    asset_id = catalog.add_asset(record, profile)    # SQLite + assets.json</a:t>
            </a:r>
          </a:p>
          <a:p>
            <a:r>
              <a:rPr sz="1300">
                <a:solidFill>
                  <a:srgbClr val="E4E7EC"/>
                </a:solidFill>
                <a:latin typeface="Consolas"/>
              </a:rPr>
              <a:t>    if incomplete: write_review_template(asset_id)   # pre-filled YAML</a:t>
            </a:r>
          </a:p>
          <a:p>
            <a:r>
              <a:rPr sz="1300">
                <a:solidFill>
                  <a:srgbClr val="E4E7EC"/>
                </a:solidFill>
                <a:latin typeface="Consolas"/>
              </a:rPr>
              <a:t> </a:t>
            </a:r>
          </a:p>
          <a:p>
            <a:r>
              <a:rPr sz="1300">
                <a:solidFill>
                  <a:srgbClr val="E4E7EC"/>
                </a:solidFill>
                <a:latin typeface="Consolas"/>
              </a:rPr>
              <a:t># MCP tools exposed to any LLM (stdio + streamable HTTP)</a:t>
            </a:r>
          </a:p>
          <a:p>
            <a:r>
              <a:rPr sz="1300">
                <a:solidFill>
                  <a:srgbClr val="E4E7EC"/>
                </a:solidFill>
                <a:latin typeface="Consolas"/>
              </a:rPr>
              <a:t>TOOLS = ["list_assets", "search_assets", "get_asset", "preview_asset",</a:t>
            </a:r>
          </a:p>
          <a:p>
            <a:r>
              <a:rPr sz="1300">
                <a:solidFill>
                  <a:srgbClr val="E4E7EC"/>
                </a:solidFill>
                <a:latin typeface="Consolas"/>
              </a:rPr>
              <a:t>         "query_asset",          # read-only DuckDB SQL over CSV/Excel</a:t>
            </a:r>
          </a:p>
          <a:p>
            <a:r>
              <a:rPr sz="1300">
                <a:solidFill>
                  <a:srgbClr val="E4E7EC"/>
                </a:solidFill>
                <a:latin typeface="Consolas"/>
              </a:rPr>
              <a:t>         "read_document",        # extracted Word text</a:t>
            </a:r>
          </a:p>
          <a:p>
            <a:r>
              <a:rPr sz="1300">
                <a:solidFill>
                  <a:srgbClr val="E4E7EC"/>
                </a:solidFill>
                <a:latin typeface="Consolas"/>
              </a:rPr>
              <a:t>         "list_sources",         # federated YAML pointers</a:t>
            </a:r>
          </a:p>
          <a:p>
            <a:r>
              <a:rPr sz="1300">
                <a:solidFill>
                  <a:srgbClr val="E4E7EC"/>
                </a:solidFill>
                <a:latin typeface="Consolas"/>
              </a:rPr>
              <a:t>         "get_catalog_summary"]  # portfolio statistics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10315644"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The Catalogue Today: First Assets Ingested</a:t>
            </a:r>
          </a:p>
        </p:txBody>
      </p:sp>
      <p:sp>
        <p:nvSpPr>
          <p:cNvPr id="5" name="TextBox 4"/>
          <p:cNvSpPr txBox="1"/>
          <p:nvPr/>
        </p:nvSpPr>
        <p:spPr>
          <a:xfrm>
            <a:off x="457200" y="1463040"/>
            <a:ext cx="11247120" cy="4503797"/>
          </a:xfrm>
          <a:prstGeom prst="rect">
            <a:avLst/>
          </a:prstGeom>
          <a:noFill/>
        </p:spPr>
        <p:txBody>
          <a:bodyPr wrap="square">
            <a:spAutoFit/>
          </a:bodyPr>
          <a:lstStyle/>
          <a:p>
            <a:pPr>
              <a:spcBef>
                <a:spcPts val="1800"/>
              </a:spcBef>
              <a:spcAft>
                <a:spcPts val="400"/>
              </a:spcAft>
              <a:defRPr sz="2200" b="1">
                <a:solidFill>
                  <a:srgbClr val="2E8B57"/>
                </a:solidFill>
              </a:defRPr>
            </a:pPr>
            <a:r>
              <a:rPr sz="1900" b="1">
                <a:solidFill>
                  <a:srgbClr val="033529"/>
                </a:solidFill>
                <a:latin typeface="Arial"/>
              </a:rPr>
              <a:t>One week in — the pipeline already runs on real team data</a:t>
            </a:r>
          </a:p>
          <a:p>
            <a:pPr>
              <a:spcAft>
                <a:spcPts val="400"/>
              </a:spcAft>
            </a:pPr>
            <a:r>
              <a:rPr sz="1700" b="0">
                <a:solidFill>
                  <a:srgbClr val="1A1A1A"/>
                </a:solidFill>
                <a:latin typeface="Arial"/>
              </a:rPr>
              <a:t>• 7 assets catalogued from 2 teams (5 CSV, 1 Excel, 1 Word); 5 published, 2 completing metadata review</a:t>
            </a:r>
          </a:p>
          <a:p>
            <a:pPr>
              <a:spcAft>
                <a:spcPts val="400"/>
              </a:spcAft>
            </a:pPr>
            <a:r>
              <a:rPr sz="1700" b="0">
                <a:solidFill>
                  <a:srgbClr val="1A1A1A"/>
                </a:solidFill>
                <a:latin typeface="Arial"/>
              </a:rPr>
              <a:t>• 4 HaFAS DST nutrient-response compilations for Ethiopia (1990–2025):</a:t>
            </a:r>
          </a:p>
          <a:p>
            <a:pPr>
              <a:spcAft>
                <a:spcPts val="400"/>
              </a:spcAft>
            </a:pPr>
            <a:r>
              <a:rPr sz="1700" b="0">
                <a:solidFill>
                  <a:srgbClr val="1A1A1A"/>
                </a:solidFill>
                <a:latin typeface="Arial"/>
              </a:rPr>
              <a:t>•    Wheat — 18,973 georeferenced trial records with N/P/K rates, treatments, and grain yield</a:t>
            </a:r>
          </a:p>
          <a:p>
            <a:pPr>
              <a:spcAft>
                <a:spcPts val="400"/>
              </a:spcAft>
            </a:pPr>
            <a:r>
              <a:rPr sz="1700" b="0">
                <a:solidFill>
                  <a:srgbClr val="1A1A1A"/>
                </a:solidFill>
                <a:latin typeface="Arial"/>
              </a:rPr>
              <a:t>•    Tef — 17,696 records  ·  Maize — 16,028 records  ·  Sorghum — 6,613 records</a:t>
            </a:r>
          </a:p>
          <a:p>
            <a:pPr>
              <a:spcAft>
                <a:spcPts val="400"/>
              </a:spcAft>
            </a:pPr>
            <a:r>
              <a:rPr sz="1700" b="0">
                <a:solidFill>
                  <a:srgbClr val="1A1A1A"/>
                </a:solidFill>
                <a:latin typeface="Arial"/>
              </a:rPr>
              <a:t>• ≈ 59,300 trial records now searchable, previewable, and queryable by people and LLMs alike</a:t>
            </a:r>
          </a:p>
          <a:p>
            <a:pPr>
              <a:spcAft>
                <a:spcPts val="400"/>
              </a:spcAft>
            </a:pPr>
            <a:r>
              <a:rPr sz="1900" b="1">
                <a:solidFill>
                  <a:srgbClr val="033529"/>
                </a:solidFill>
                <a:latin typeface="Arial"/>
              </a:rPr>
              <a:t>Governance made visible</a:t>
            </a:r>
          </a:p>
          <a:p>
            <a:pPr>
              <a:spcAft>
                <a:spcPts val="400"/>
              </a:spcAft>
            </a:pPr>
            <a:r>
              <a:rPr sz="1700" b="0">
                <a:solidFill>
                  <a:srgbClr val="1A1A1A"/>
                </a:solidFill>
                <a:latin typeface="Arial"/>
              </a:rPr>
              <a:t>• Every asset carries team, owner, license, and access — open vs internal vs restricted is explicit, not assumed</a:t>
            </a:r>
          </a:p>
          <a:p>
            <a:pPr>
              <a:spcAft>
                <a:spcPts val="400"/>
              </a:spcAft>
            </a:pPr>
            <a:r>
              <a:rPr sz="1700" b="0">
                <a:solidFill>
                  <a:srgbClr val="1A1A1A"/>
                </a:solidFill>
                <a:latin typeface="Arial"/>
              </a:rPr>
              <a:t>• 2 federated sources registered as YAML pointers (CHIRPS daily rainfall; AClimate Ethiopia advisory API)</a:t>
            </a:r>
          </a:p>
          <a:p>
            <a:pPr>
              <a:spcAft>
                <a:spcPts val="400"/>
              </a:spcAft>
            </a:pPr>
            <a:r>
              <a:rPr sz="1900" b="1">
                <a:solidFill>
                  <a:srgbClr val="033529"/>
                </a:solidFill>
                <a:latin typeface="Arial"/>
              </a:rPr>
              <a:t>Next: onboard remaining teams, deploy the permanent upload link (Railway), extend readers to GeoTIFF/NetCDF/parquet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2E8B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74320"/>
            <a:ext cx="6194324" cy="584775"/>
          </a:xfrm>
          <a:prstGeom prst="rect">
            <a:avLst/>
          </a:prstGeom>
          <a:noFill/>
        </p:spPr>
        <p:txBody>
          <a:bodyPr wrap="none">
            <a:spAutoFit/>
          </a:bodyPr>
          <a:lstStyle/>
          <a:p>
            <a:pPr>
              <a:spcAft>
                <a:spcPts val="400"/>
              </a:spcAft>
              <a:defRPr sz="3200" b="1">
                <a:solidFill>
                  <a:srgbClr val="FFFFFF"/>
                </a:solidFill>
              </a:defRPr>
            </a:pPr>
            <a:r>
              <a:rPr sz="3200" b="1">
                <a:solidFill>
                  <a:srgbClr val="FFFFFF"/>
                </a:solidFill>
                <a:latin typeface="Arial"/>
              </a:rPr>
              <a:t>Expected Impact &amp; Conclusion</a:t>
            </a:r>
          </a:p>
        </p:txBody>
      </p:sp>
      <p:sp>
        <p:nvSpPr>
          <p:cNvPr id="5" name="TextBox 4"/>
          <p:cNvSpPr txBox="1"/>
          <p:nvPr/>
        </p:nvSpPr>
        <p:spPr>
          <a:xfrm>
            <a:off x="457200" y="1371600"/>
            <a:ext cx="2778325" cy="430887"/>
          </a:xfrm>
          <a:prstGeom prst="rect">
            <a:avLst/>
          </a:prstGeom>
          <a:noFill/>
        </p:spPr>
        <p:txBody>
          <a:bodyPr wrap="none">
            <a:spAutoFit/>
          </a:bodyPr>
          <a:lstStyle/>
          <a:p>
            <a:pPr>
              <a:spcAft>
                <a:spcPts val="400"/>
              </a:spcAft>
              <a:defRPr sz="2200" b="1">
                <a:solidFill>
                  <a:srgbClr val="2E8B57"/>
                </a:solidFill>
              </a:defRPr>
            </a:pPr>
            <a:r>
              <a:rPr sz="2000" b="1">
                <a:solidFill>
                  <a:srgbClr val="033529"/>
                </a:solidFill>
                <a:latin typeface="Arial"/>
              </a:rPr>
              <a:t>Expected Benefits</a:t>
            </a:r>
          </a:p>
        </p:txBody>
      </p:sp>
      <p:sp>
        <p:nvSpPr>
          <p:cNvPr id="6" name="TextBox 5"/>
          <p:cNvSpPr txBox="1"/>
          <p:nvPr/>
        </p:nvSpPr>
        <p:spPr>
          <a:xfrm>
            <a:off x="149352" y="1828800"/>
            <a:ext cx="5794248" cy="2862322"/>
          </a:xfrm>
          <a:prstGeom prst="rect">
            <a:avLst/>
          </a:prstGeom>
          <a:noFill/>
        </p:spPr>
        <p:txBody>
          <a:bodyPr wrap="square">
            <a:spAutoFit/>
          </a:bodyPr>
          <a:lstStyle/>
          <a:p>
            <a:pPr>
              <a:spcAft>
                <a:spcPts val="400"/>
              </a:spcAft>
            </a:pPr>
            <a:r>
              <a:rPr sz="1600" b="0">
                <a:solidFill>
                  <a:srgbClr val="1A1A1A"/>
                </a:solidFill>
                <a:latin typeface="Arial"/>
              </a:rPr>
              <a:t>• Zero-friction sharing: any team member can publish a dataset in 30 seconds — no special skills</a:t>
            </a:r>
          </a:p>
          <a:p>
            <a:pPr>
              <a:spcAft>
                <a:spcPts val="400"/>
              </a:spcAft>
            </a:pPr>
            <a:r>
              <a:rPr sz="1600" b="0">
                <a:solidFill>
                  <a:srgbClr val="1A1A1A"/>
                </a:solidFill>
                <a:latin typeface="Arial"/>
              </a:rPr>
              <a:t>• One catalogue: what exists, who owns it, and its access terms are always known</a:t>
            </a:r>
          </a:p>
          <a:p>
            <a:pPr>
              <a:spcAft>
                <a:spcPts val="400"/>
              </a:spcAft>
            </a:pPr>
            <a:r>
              <a:rPr sz="1600" b="0">
                <a:solidFill>
                  <a:srgbClr val="1A1A1A"/>
                </a:solidFill>
                <a:latin typeface="Arial"/>
              </a:rPr>
              <a:t>• No more duplicate collection/processing; shared inputs registered once and reused</a:t>
            </a:r>
          </a:p>
          <a:p>
            <a:pPr>
              <a:spcAft>
                <a:spcPts val="400"/>
              </a:spcAft>
            </a:pPr>
            <a:r>
              <a:rPr sz="1600" b="0">
                <a:solidFill>
                  <a:srgbClr val="1A1A1A"/>
                </a:solidFill>
                <a:latin typeface="Arial"/>
              </a:rPr>
              <a:t>• Institutional data becomes AI-ready: LLM assistants answer questions directly from team data</a:t>
            </a:r>
          </a:p>
          <a:p>
            <a:pPr>
              <a:spcAft>
                <a:spcPts val="400"/>
              </a:spcAft>
            </a:pPr>
            <a:r>
              <a:rPr sz="1600" b="0">
                <a:solidFill>
                  <a:srgbClr val="1A1A1A"/>
                </a:solidFill>
                <a:latin typeface="Arial"/>
              </a:rPr>
              <a:t>• Clear open/internal/restricted governance supports data-policy compliance</a:t>
            </a:r>
          </a:p>
        </p:txBody>
      </p:sp>
      <p:sp>
        <p:nvSpPr>
          <p:cNvPr id="7" name="Rectangle 6"/>
          <p:cNvSpPr/>
          <p:nvPr/>
        </p:nvSpPr>
        <p:spPr>
          <a:xfrm>
            <a:off x="5943600" y="1371600"/>
            <a:ext cx="27432" cy="50292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09360" y="1371600"/>
            <a:ext cx="2369559" cy="430887"/>
          </a:xfrm>
          <a:prstGeom prst="rect">
            <a:avLst/>
          </a:prstGeom>
          <a:noFill/>
        </p:spPr>
        <p:txBody>
          <a:bodyPr wrap="none">
            <a:spAutoFit/>
          </a:bodyPr>
          <a:lstStyle/>
          <a:p>
            <a:pPr>
              <a:spcAft>
                <a:spcPts val="400"/>
              </a:spcAft>
              <a:defRPr sz="2200" b="1">
                <a:solidFill>
                  <a:srgbClr val="2E8B57"/>
                </a:solidFill>
              </a:defRPr>
            </a:pPr>
            <a:r>
              <a:rPr sz="2000" b="1">
                <a:solidFill>
                  <a:srgbClr val="033529"/>
                </a:solidFill>
                <a:latin typeface="Arial"/>
              </a:rPr>
              <a:t>Key Innovations</a:t>
            </a:r>
          </a:p>
        </p:txBody>
      </p:sp>
      <p:sp>
        <p:nvSpPr>
          <p:cNvPr id="9" name="TextBox 8"/>
          <p:cNvSpPr txBox="1"/>
          <p:nvPr/>
        </p:nvSpPr>
        <p:spPr>
          <a:xfrm>
            <a:off x="6123432" y="1920240"/>
            <a:ext cx="5974080" cy="1980029"/>
          </a:xfrm>
          <a:prstGeom prst="rect">
            <a:avLst/>
          </a:prstGeom>
          <a:noFill/>
        </p:spPr>
        <p:txBody>
          <a:bodyPr wrap="square">
            <a:spAutoFit/>
          </a:bodyPr>
          <a:lstStyle/>
          <a:p>
            <a:pPr>
              <a:spcBef>
                <a:spcPts val="800"/>
              </a:spcBef>
              <a:spcAft>
                <a:spcPts val="400"/>
              </a:spcAft>
              <a:defRPr sz="1600">
                <a:solidFill>
                  <a:srgbClr val="000000"/>
                </a:solidFill>
              </a:defRPr>
            </a:pPr>
            <a:r>
              <a:rPr sz="1600" b="0">
                <a:solidFill>
                  <a:srgbClr val="1A1A1A"/>
                </a:solidFill>
                <a:latin typeface="Arial"/>
              </a:rPr>
              <a:t>• Federation-first: YAML pointers register external data without copying it</a:t>
            </a:r>
          </a:p>
          <a:p>
            <a:pPr>
              <a:spcAft>
                <a:spcPts val="400"/>
              </a:spcAft>
            </a:pPr>
            <a:r>
              <a:rPr sz="1600" b="0">
                <a:solidFill>
                  <a:srgbClr val="1A1A1A"/>
                </a:solidFill>
                <a:latin typeface="Arial"/>
              </a:rPr>
              <a:t>• Auto-infer + review-template metadata flow — gaps flagged, never blocking upload</a:t>
            </a:r>
          </a:p>
          <a:p>
            <a:pPr>
              <a:spcAft>
                <a:spcPts val="400"/>
              </a:spcAft>
            </a:pPr>
            <a:r>
              <a:rPr sz="1600" b="0">
                <a:solidFill>
                  <a:srgbClr val="1A1A1A"/>
                </a:solidFill>
                <a:latin typeface="Arial"/>
              </a:rPr>
              <a:t>• MCP server turns an institutional catalogue into LLM-consumable tools</a:t>
            </a:r>
          </a:p>
          <a:p>
            <a:pPr>
              <a:spcAft>
                <a:spcPts val="400"/>
              </a:spcAft>
            </a:pPr>
            <a:r>
              <a:rPr sz="1600" b="0">
                <a:solidFill>
                  <a:srgbClr val="1A1A1A"/>
                </a:solidFill>
                <a:latin typeface="Arial"/>
              </a:rPr>
              <a:t>• Deploy-anywhere: laptop, tunnel, or cloud container with the same codebase</a:t>
            </a:r>
          </a:p>
          <a:p>
            <a:pPr>
              <a:spcAft>
                <a:spcPts val="400"/>
              </a:spcAft>
            </a:pPr>
            <a:r>
              <a:rPr sz="1600" b="0">
                <a:solidFill>
                  <a:srgbClr val="1A1A1A"/>
                </a:solidFill>
                <a:latin typeface="Arial"/>
              </a:rPr>
              <a:t>• Aligned with the CGIAR Climate Data Hub asset-mapping approach and the Coalition of the Willing for soil and agronomy data sharing</a:t>
            </a:r>
          </a:p>
        </p:txBody>
      </p:sp>
      <p:sp>
        <p:nvSpPr>
          <p:cNvPr id="10" name="TextBox 9"/>
          <p:cNvSpPr txBox="1"/>
          <p:nvPr/>
        </p:nvSpPr>
        <p:spPr>
          <a:xfrm>
            <a:off x="387097" y="6234031"/>
            <a:ext cx="10991088" cy="584775"/>
          </a:xfrm>
          <a:prstGeom prst="rect">
            <a:avLst/>
          </a:prstGeom>
          <a:noFill/>
        </p:spPr>
        <p:txBody>
          <a:bodyPr wrap="square">
            <a:spAutoFit/>
          </a:bodyPr>
          <a:lstStyle/>
          <a:p>
            <a:pPr algn="ctr">
              <a:defRPr sz="1600" i="1">
                <a:solidFill>
                  <a:srgbClr val="003366"/>
                </a:solidFill>
              </a:defRPr>
            </a:pPr>
            <a:r>
              <a:rPr dirty="0">
                <a:latin typeface="Arial" panose="020B0604020202020204" pitchFamily="34" charset="0"/>
                <a:cs typeface="Arial" panose="020B0604020202020204" pitchFamily="34" charset="0"/>
              </a:rPr>
              <a:t>The ICRISAT Data Hub turns scattered team files into a governed, AI-ready, federation-first catalogue — making ICRISAT's data as easy to share as it is to produce.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a:extLst>
              <a:ext uri="{FF2B5EF4-FFF2-40B4-BE49-F238E27FC236}">
                <a16:creationId xmlns:a16="http://schemas.microsoft.com/office/drawing/2014/main" id="{295B0C23-0E55-48D6-BF38-B039C4F3B43A}"/>
              </a:ext>
            </a:extLst>
          </p:cNvPr>
          <p:cNvSpPr/>
          <p:nvPr/>
        </p:nvSpPr>
        <p:spPr>
          <a:xfrm>
            <a:off x="765543" y="467832"/>
            <a:ext cx="11249247" cy="5704126"/>
          </a:xfrm>
          <a:prstGeom prst="rect">
            <a:avLst/>
          </a:prstGeom>
        </p:spPr>
        <p:txBody>
          <a:bodyPr wrap="square">
            <a:spAutoFit/>
          </a:bodyPr>
          <a:lstStyle/>
          <a:p>
            <a:pPr>
              <a:spcAft>
                <a:spcPts val="800"/>
              </a:spcAft>
            </a:pPr>
            <a:r>
              <a:rPr sz="1600" b="1">
                <a:solidFill>
                  <a:srgbClr val="1A1A1A"/>
                </a:solidFill>
                <a:latin typeface="Arial"/>
              </a:rPr>
              <a:t>Citation:</a:t>
            </a:r>
            <a:endParaRPr lang="en-US" sz="900" b="1" kern="100" dirty="0">
              <a:latin typeface="Arial" panose="020B0604020202020204" pitchFamily="34" charset="0"/>
              <a:ea typeface="Arial" panose="020B0604020202020204" pitchFamily="34" charset="0"/>
              <a:cs typeface="Arial" panose="020B0604020202020204" pitchFamily="34" charset="0"/>
            </a:endParaRPr>
          </a:p>
          <a:p>
            <a:pPr>
              <a:spcAft>
                <a:spcPts val="800"/>
              </a:spcAft>
            </a:pPr>
            <a:r>
              <a:rPr sz="1400" b="0">
                <a:solidFill>
                  <a:srgbClr val="1A1A1A"/>
                </a:solidFill>
                <a:latin typeface="Arial"/>
              </a:rPr>
              <a:t>Desalegn, H. 2026. ICRISAT Data Hub: Federation-First Data Sharing and an AI-Ready Catalogue for ICRISAT Teams. ICRISAT Working Paper.</a:t>
            </a:r>
          </a:p>
          <a:p>
            <a:pPr>
              <a:spcAft>
                <a:spcPts val="800"/>
              </a:spcAft>
            </a:pPr>
            <a:r>
              <a:rPr sz="1600" b="1">
                <a:solidFill>
                  <a:srgbClr val="1A1A1A"/>
                </a:solidFill>
                <a:latin typeface="Arial"/>
              </a:rPr>
              <a:t>Acknowledgements</a:t>
            </a:r>
          </a:p>
          <a:p>
            <a:pPr>
              <a:spcAft>
                <a:spcPts val="800"/>
              </a:spcAft>
            </a:pPr>
            <a:r>
              <a:rPr sz="1200" b="0">
                <a:solidFill>
                  <a:srgbClr val="1A1A1A"/>
                </a:solidFill>
                <a:latin typeface="Arial"/>
              </a:rPr>
              <a:t>The CGIAR Sustainable Farming Science Program forms a part of CGIAR's Research Portfolio, addressing key challenges in agri-food systems by fostering efficient production of nutritious foods and safeguarding the environment. This work was implemented by CGIAR researchers from ICRISAT in close partnership with the Ministry of Agriculture, the Ethiopian Institute of Agricultural Research, and Regional Agricultural Research Institutes. The hub design follows the CGIAR Climate Data Hub asset-mapping approach and supports the Coalition of the Willing for soil and agronomy data access, management, and sharing.</a:t>
            </a:r>
          </a:p>
          <a:p>
            <a:pPr>
              <a:spcAft>
                <a:spcPts val="800"/>
              </a:spcAft>
            </a:pPr>
            <a:r>
              <a:rPr sz="1200" b="0">
                <a:solidFill>
                  <a:srgbClr val="1A1A1A"/>
                </a:solidFill>
                <a:latin typeface="Arial"/>
              </a:rPr>
              <a:t>We thank all funders who supported this research through their contributions to the CGIAR Trust Fund: https://www.cgiar.org/funders/</a:t>
            </a:r>
          </a:p>
          <a:p>
            <a:pPr>
              <a:spcAft>
                <a:spcPts val="800"/>
              </a:spcAft>
            </a:pPr>
            <a:r>
              <a:rPr sz="1600" b="1">
                <a:solidFill>
                  <a:srgbClr val="1A1A1A"/>
                </a:solidFill>
                <a:latin typeface="Arial"/>
              </a:rPr>
              <a:t>Disclaimer</a:t>
            </a:r>
          </a:p>
          <a:p>
            <a:pPr>
              <a:spcAft>
                <a:spcPts val="800"/>
              </a:spcAft>
            </a:pPr>
            <a:r>
              <a:rPr sz="1200" b="0">
                <a:solidFill>
                  <a:srgbClr val="1A1A1A"/>
                </a:solidFill>
                <a:latin typeface="Arial"/>
              </a:rPr>
              <a:t>This working paper has not been peer reviewed. Any opinions stated herein are those of the author(s) and do not necessarily reflect the policies or opinions of ICRISAT, donors, or partners.</a:t>
            </a:r>
          </a:p>
        </p:txBody>
      </p:sp>
      <p:pic>
        <p:nvPicPr>
          <p:cNvPr id="5" name="Picture 4" descr="image.png"/>
          <p:cNvPicPr>
            <a:picLocks noChangeAspect="1"/>
          </p:cNvPicPr>
          <p:nvPr/>
        </p:nvPicPr>
        <p:blipFill>
          <a:blip r:embed="rId2"/>
          <a:stretch>
            <a:fillRect/>
          </a:stretch>
        </p:blipFill>
        <p:spPr>
          <a:xfrm>
            <a:off x="0" y="3104706"/>
            <a:ext cx="648586" cy="648586"/>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a:extLst>
              <a:ext uri="{FF2B5EF4-FFF2-40B4-BE49-F238E27FC236}">
                <a16:creationId xmlns:a16="http://schemas.microsoft.com/office/drawing/2014/main" id="{90A1FD58-A407-4212-8EEC-E454FE94F36F}"/>
              </a:ext>
            </a:extLst>
          </p:cNvPr>
          <p:cNvSpPr/>
          <p:nvPr/>
        </p:nvSpPr>
        <p:spPr>
          <a:xfrm>
            <a:off x="818707" y="531627"/>
            <a:ext cx="10675087" cy="3494675"/>
          </a:xfrm>
          <a:prstGeom prst="rect">
            <a:avLst/>
          </a:prstGeom>
        </p:spPr>
        <p:txBody>
          <a:bodyPr wrap="square" lIns="91440" tIns="45720" rIns="91440" bIns="45720" anchor="t">
            <a:spAutoFit/>
          </a:bodyPr>
          <a:lstStyle/>
          <a:p>
            <a:pPr>
              <a:spcAft>
                <a:spcPts val="800"/>
              </a:spcAft>
            </a:pPr>
            <a:r>
              <a:rPr sz="1200" b="0">
                <a:solidFill>
                  <a:srgbClr val="1A1A1A"/>
                </a:solidFill>
                <a:latin typeface="Arial"/>
              </a:rPr>
              <a:t>This publication is copyrighted by ICRISAT and licensed under a Creative Commons Attribution–NonCommercial 4.0 International License. Attribution must not suggest endorsement by ICRISAT or the author(s).</a:t>
            </a:r>
          </a:p>
          <a:p>
            <a:pPr>
              <a:spcAft>
                <a:spcPts val="800"/>
              </a:spcAft>
            </a:pPr>
            <a:r>
              <a:rPr sz="1400" b="1">
                <a:solidFill>
                  <a:srgbClr val="1A1A1A"/>
                </a:solidFill>
                <a:latin typeface="Arial"/>
              </a:rPr>
              <a:t>Key Words:</a:t>
            </a:r>
          </a:p>
          <a:p>
            <a:pPr>
              <a:spcAft>
                <a:spcPts val="800"/>
              </a:spcAft>
            </a:pPr>
            <a:r>
              <a:rPr sz="1200" b="0">
                <a:solidFill>
                  <a:srgbClr val="1A1A1A"/>
                </a:solidFill>
                <a:latin typeface="Arial"/>
              </a:rPr>
              <a:t>Data Hub; Federation; Data Catalogue; Model Context Protocol (MCP); AI-Ready Data; FAIR Data; Zero-Skill Upload</a:t>
            </a:r>
          </a:p>
          <a:p>
            <a:pPr>
              <a:spcAft>
                <a:spcPts val="800"/>
              </a:spcAft>
            </a:pPr>
            <a:r>
              <a:rPr sz="1400" b="1">
                <a:solidFill>
                  <a:srgbClr val="1A1A1A"/>
                </a:solidFill>
                <a:latin typeface="Arial"/>
              </a:rPr>
              <a:t>Alignment:</a:t>
            </a:r>
          </a:p>
          <a:p>
            <a:pPr>
              <a:spcAft>
                <a:spcPts val="800"/>
              </a:spcAft>
            </a:pPr>
            <a:r>
              <a:rPr sz="1200" b="0">
                <a:solidFill>
                  <a:srgbClr val="1A1A1A"/>
                </a:solidFill>
                <a:latin typeface="Arial"/>
              </a:rPr>
              <a:t>CGIAR Climate Data Hub asset-mapping approach · Coalition of the Willing for soil and agronomy data access, management and sharing · Ethiopian Ministry of Agriculture data-sharing policy</a:t>
            </a:r>
          </a:p>
          <a:p>
            <a:pPr>
              <a:spcAft>
                <a:spcPts val="800"/>
              </a:spcAft>
            </a:pPr>
            <a:r>
              <a:rPr sz="1200" b="0">
                <a:solidFill>
                  <a:srgbClr val="1A1A1A"/>
                </a:solidFill>
                <a:latin typeface="Arial"/>
              </a:rPr>
              <a:t>©2026 ICRISAT</a:t>
            </a:r>
          </a:p>
        </p:txBody>
      </p:sp>
      <p:pic>
        <p:nvPicPr>
          <p:cNvPr id="5" name="Picture 4" descr="image.png"/>
          <p:cNvPicPr>
            <a:picLocks noChangeAspect="1"/>
          </p:cNvPicPr>
          <p:nvPr/>
        </p:nvPicPr>
        <p:blipFill>
          <a:blip r:embed="rId2"/>
          <a:stretch>
            <a:fillRect/>
          </a:stretch>
        </p:blipFill>
        <p:spPr>
          <a:xfrm>
            <a:off x="0" y="3104706"/>
            <a:ext cx="648586" cy="648586"/>
          </a:xfrm>
          <a:prstGeom prst="rect">
            <a:avLst/>
          </a:prstGeom>
        </p:spPr>
      </p:pic>
      <p:pic>
        <p:nvPicPr>
          <p:cNvPr id="6" name="Picture 5" descr="image.png"/>
          <p:cNvPicPr>
            <a:picLocks noChangeAspect="1"/>
          </p:cNvPicPr>
          <p:nvPr/>
        </p:nvPicPr>
        <p:blipFill>
          <a:blip r:embed="rId3"/>
          <a:stretch>
            <a:fillRect/>
          </a:stretch>
        </p:blipFill>
        <p:spPr>
          <a:xfrm>
            <a:off x="1338037" y="4433776"/>
            <a:ext cx="6905365" cy="2424224"/>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a:extLst>
              <a:ext uri="{FF2B5EF4-FFF2-40B4-BE49-F238E27FC236}">
                <a16:creationId xmlns:a16="http://schemas.microsoft.com/office/drawing/2014/main" id="{959CBEDC-97B1-4478-B80F-9B18DA172A26}"/>
              </a:ext>
            </a:extLst>
          </p:cNvPr>
          <p:cNvSpPr/>
          <p:nvPr/>
        </p:nvSpPr>
        <p:spPr>
          <a:xfrm>
            <a:off x="0" y="4376102"/>
            <a:ext cx="12192000" cy="1777574"/>
          </a:xfrm>
          <a:prstGeom prst="rect">
            <a:avLst/>
          </a:prstGeom>
          <a:solidFill>
            <a:srgbClr val="033529"/>
          </a:solidFill>
          <a:ln w="12700" cap="flat" cmpd="sng" algn="ctr">
            <a:solidFill>
              <a:srgbClr val="033529">
                <a:shade val="15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endParaRPr>
          </a:p>
        </p:txBody>
      </p:sp>
      <p:grpSp>
        <p:nvGrpSpPr>
          <p:cNvPr id="3" name="Group 2">
            <a:extLst>
              <a:ext uri="{FF2B5EF4-FFF2-40B4-BE49-F238E27FC236}">
                <a16:creationId xmlns:a16="http://schemas.microsoft.com/office/drawing/2014/main" id="{70E4F8AE-D563-44E8-AEB5-2262530EA578}"/>
              </a:ext>
            </a:extLst>
          </p:cNvPr>
          <p:cNvGrpSpPr/>
          <p:nvPr/>
        </p:nvGrpSpPr>
        <p:grpSpPr>
          <a:xfrm>
            <a:off x="647700" y="6363282"/>
            <a:ext cx="10866491" cy="596031"/>
            <a:chOff x="647700" y="6363282"/>
            <a:chExt cx="10866491" cy="596031"/>
          </a:xfrm>
        </p:grpSpPr>
      </p:grpSp>
      <p:pic>
        <p:nvPicPr>
          <p:cNvPr id="5" name="Picture 4" descr="image.png"/>
          <p:cNvPicPr>
            <a:picLocks noChangeAspect="1"/>
          </p:cNvPicPr>
          <p:nvPr/>
        </p:nvPicPr>
        <p:blipFill>
          <a:blip r:embed="rId2"/>
          <a:stretch>
            <a:fillRect/>
          </a:stretch>
        </p:blipFill>
        <p:spPr>
          <a:xfrm>
            <a:off x="2446089" y="-13942"/>
            <a:ext cx="4390044" cy="4390044"/>
          </a:xfrm>
          <a:prstGeom prst="rect">
            <a:avLst/>
          </a:prstGeom>
        </p:spPr>
      </p:pic>
      <p:pic>
        <p:nvPicPr>
          <p:cNvPr id="6" name="Picture 5" descr="image.emf"/>
          <p:cNvPicPr>
            <a:picLocks noChangeAspect="1"/>
          </p:cNvPicPr>
          <p:nvPr/>
        </p:nvPicPr>
        <p:blipFill>
          <a:blip r:embed="rId3"/>
          <a:stretch>
            <a:fillRect/>
          </a:stretch>
        </p:blipFill>
        <p:spPr>
          <a:xfrm>
            <a:off x="647700" y="6384763"/>
            <a:ext cx="5760853" cy="553069"/>
          </a:xfrm>
          <a:prstGeom prst="rect">
            <a:avLst/>
          </a:prstGeom>
        </p:spPr>
      </p:pic>
      <p:pic>
        <p:nvPicPr>
          <p:cNvPr id="7" name="Picture 6" descr="image.emf"/>
          <p:cNvPicPr>
            <a:picLocks noChangeAspect="1"/>
          </p:cNvPicPr>
          <p:nvPr/>
        </p:nvPicPr>
        <p:blipFill>
          <a:blip r:embed="rId4"/>
          <a:stretch>
            <a:fillRect/>
          </a:stretch>
        </p:blipFill>
        <p:spPr>
          <a:xfrm>
            <a:off x="6103481" y="6366966"/>
            <a:ext cx="4946506" cy="474081"/>
          </a:xfrm>
          <a:prstGeom prst="rect">
            <a:avLst/>
          </a:prstGeom>
        </p:spPr>
      </p:pic>
      <p:pic>
        <p:nvPicPr>
          <p:cNvPr id="8" name="Picture 7" descr="image.jpg"/>
          <p:cNvPicPr>
            <a:picLocks noChangeAspect="1"/>
          </p:cNvPicPr>
          <p:nvPr/>
        </p:nvPicPr>
        <p:blipFill>
          <a:blip r:embed="rId5"/>
          <a:stretch>
            <a:fillRect/>
          </a:stretch>
        </p:blipFill>
        <p:spPr>
          <a:xfrm>
            <a:off x="1984733" y="270798"/>
            <a:ext cx="5167819" cy="389201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1542</TotalTime>
  <Words>1593</Words>
  <Application>Microsoft Office PowerPoint</Application>
  <PresentationFormat>Widescreen</PresentationFormat>
  <Paragraphs>120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Gizaw Desta(ICRISAT-ET)</dc:creator>
  <cp:keywords/>
  <dc:description>generated using python-pptx</dc:description>
  <cp:lastModifiedBy>Desalegn, Henok (ICRISAT-Ethiopia)</cp:lastModifiedBy>
  <cp:revision>13</cp:revision>
  <dcterms:created xsi:type="dcterms:W3CDTF">2013-01-27T09:14:16Z</dcterms:created>
  <dcterms:modified xsi:type="dcterms:W3CDTF">2025-12-18T05:45:43Z</dcterms:modified>
  <cp:category/>
</cp:coreProperties>
</file>